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7A6B6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7A6B6E"/>
                </a:solidFill>
                <a:latin typeface="Arial"/>
              </a:rPr>
              <a:t>Illustrative: Sales by Temp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Sales ($)</c:v>
                </c:pt>
              </c:strCache>
            </c:strRef>
          </c:tx>
          <c:spPr>
            <a:solidFill>
              <a:srgbClr val="4A1F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1F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1F3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506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Cold
(&lt;40°F)</c:v>
                  </c:pt>
                  <c:pt idx="1">
                    <c:v>Mild
(40–65°F)</c:v>
                  </c:pt>
                  <c:pt idx="2">
                    <c:v>Warm
(65–80°F)</c:v>
                  </c:pt>
                  <c:pt idx="3">
                    <c:v>Hot
(&gt;80°F)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5800</c:v>
                </c:pt>
                <c:pt idx="1">
                  <c:v>4900</c:v>
                </c:pt>
                <c:pt idx="2">
                  <c:v>6200</c:v>
                </c:pt>
                <c:pt idx="3">
                  <c:v>7400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1F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5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506A"/>
          </a:solidFill>
          <a:ln w="12700">
            <a:solidFill>
              <a:srgbClr val="C950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6D2E46">
              <a:alpha val="45000"/>
            </a:srgbClr>
          </a:solidFill>
          <a:ln w="12700">
            <a:solidFill>
              <a:srgbClr val="6D2E4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2560320"/>
            <a:ext cx="2926080" cy="2926080"/>
          </a:xfrm>
          <a:prstGeom prst="ellipse">
            <a:avLst/>
          </a:prstGeom>
          <a:solidFill>
            <a:srgbClr val="C9506A">
              <a:alpha val="25000"/>
            </a:srgbClr>
          </a:solidFill>
          <a:ln w="12700">
            <a:solidFill>
              <a:srgbClr val="C9506A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JustDrinks Ltd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Strategy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additional data should we collect — and why?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FY2016 Annual Review  ·  Prepared for the CFO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F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FY2016 Data Tells 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current dataset answers WHAT happened. To understand WHY — and predict what comes next — we need more.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00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We Have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 by store &amp; date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levels (start &amp; end of year)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purchasing records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classifications (wine / spirits)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600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We Need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92024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&amp; loyalty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&amp; discount event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linked to store locations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pricing by region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3063240"/>
            <a:ext cx="548640" cy="0"/>
          </a:xfrm>
          <a:prstGeom prst="line">
            <a:avLst/>
          </a:prstGeom>
          <a:noFill/>
          <a:ln w="254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288036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94360" cy="5943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F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Demographics &amp; Loyalty Data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WHAT sold and WHERE, but not WHO bought it. Without customer data, every promotion is a guess.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377440"/>
            <a:ext cx="2697480" cy="2377440"/>
          </a:xfrm>
          <a:prstGeom prst="rect">
            <a:avLst/>
          </a:prstGeom>
          <a:solidFill>
            <a:srgbClr val="FAF5F2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377440"/>
            <a:ext cx="2697480" cy="5486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468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promotions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292608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wine offers to wine buyers, spirits deals to spirits buyers — by store ZIP code.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2377440"/>
            <a:ext cx="2697480" cy="2377440"/>
          </a:xfrm>
          <a:prstGeom prst="rect">
            <a:avLst/>
          </a:prstGeom>
          <a:solidFill>
            <a:srgbClr val="FAF5F2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377440"/>
            <a:ext cx="2697480" cy="5486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0" y="2468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ROI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83280" y="292608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high-lifetime-value customers and measure whether loyalty spend retains them.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26480" y="2377440"/>
            <a:ext cx="2697480" cy="2377440"/>
          </a:xfrm>
          <a:prstGeom prst="rect">
            <a:avLst/>
          </a:prstGeom>
          <a:solidFill>
            <a:srgbClr val="FAF5F2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377440"/>
            <a:ext cx="2697480" cy="5486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2468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analysis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292608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what products are bought together and optimize store layouts accordingly.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 collect: age bracket, gender, home ZIP, purchase frequency, loyalty tier, channel (in-store vs online)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94360" cy="594360"/>
          </a:xfrm>
          <a:prstGeom prst="ellipse">
            <a:avLst/>
          </a:prstGeom>
          <a:solidFill>
            <a:srgbClr val="C9506A"/>
          </a:solidFill>
          <a:ln w="12700">
            <a:solidFill>
              <a:srgbClr val="C9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F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Data Linked to Store Locations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sales are highly seasonal — but seasonality isn't just about the calendar. A cold snap in March sells more whisky than a warm one. A hot July weekend boosts rosé. Without weather data, our inventory planning is flying blind on the single biggest external driver of demand.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577840" y="914400"/>
          <a:ext cx="3291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577840" y="3703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Chart is illustrative — based on industry benchmarks. Actual correlation requires historical weather data overlay.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3337560"/>
            <a:ext cx="5029200" cy="457200"/>
          </a:xfrm>
          <a:prstGeom prst="rect">
            <a:avLst/>
          </a:prstGeom>
          <a:solidFill>
            <a:srgbClr val="4A1F31"/>
          </a:solidFill>
          <a:ln w="12700">
            <a:solidFill>
              <a:srgbClr val="4A1F3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337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 —  Predict weekly sales volume using 7-day weather forecast per store region.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867912"/>
            <a:ext cx="50292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8679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pre-positioning  —  Stock cold-weather spirits ahead of cold snaps; rotate rosé before heatwaves.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4398264"/>
            <a:ext cx="5029200" cy="4572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43982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timing  —  Align clearance sales with weather dips that naturally suppress traffic.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 collect: daily high/low temp, precipitation, wind speed — matched to store ZIP codes via public weather APIs (NOAA, OpenWeather)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94360" cy="594360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F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Promotions, Discounts &amp; Competitor Pricing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see sales volume spikes in the FY2016 data — but we cannot tell whether they were driven by promotions, competitor price moves, or natural demand. Without flagging discounts and tracking competitor pricing, we cannot measure the ROI of a single promotion.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4160520" cy="1325880"/>
          </a:xfrm>
          <a:prstGeom prst="rect">
            <a:avLst/>
          </a:prstGeom>
          <a:solidFill>
            <a:srgbClr val="FAF5F2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65960"/>
            <a:ext cx="64008" cy="13258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0574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F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flags on transactions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4231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each sale with the promotion code applied. Enables true lift measurement: did the discount drive incremental volume or just give away margin?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965960"/>
            <a:ext cx="4160520" cy="1325880"/>
          </a:xfrm>
          <a:prstGeom prst="rect">
            <a:avLst/>
          </a:prstGeom>
          <a:solidFill>
            <a:srgbClr val="FAF5F2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965960"/>
            <a:ext cx="64008" cy="1325880"/>
          </a:xfrm>
          <a:prstGeom prst="rect">
            <a:avLst/>
          </a:prstGeom>
          <a:solidFill>
            <a:srgbClr val="C9506A"/>
          </a:solidFill>
          <a:ln w="12700">
            <a:solidFill>
              <a:srgbClr val="C950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20574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F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shelf prices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24231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price scrapes for key SKUs across competing retailers. Identifies where JustDrinks is overpriced and losing volume.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60520" cy="1325880"/>
          </a:xfrm>
          <a:prstGeom prst="rect">
            <a:avLst/>
          </a:prstGeom>
          <a:solidFill>
            <a:srgbClr val="FAF5F2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29000"/>
            <a:ext cx="64008" cy="132588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5204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F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&amp; clearance history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88620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regular-price sales from markdown sales. Currently the two are mixed, masking true price elasticity for each product.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429000"/>
            <a:ext cx="4160520" cy="1325880"/>
          </a:xfrm>
          <a:prstGeom prst="rect">
            <a:avLst/>
          </a:prstGeom>
          <a:solidFill>
            <a:srgbClr val="FAF5F2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429000"/>
            <a:ext cx="64008" cy="13258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5204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F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trade spend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73752" y="388620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vendor-funded promotional contributions. A 20% discount may be fully vendor-funded — crucial for true margin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F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Operational Data Points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priority — but high value once core recommendations are in place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822960"/>
          </a:xfrm>
          <a:prstGeom prst="rect">
            <a:avLst/>
          </a:prstGeom>
          <a:solidFill>
            <a:srgbClr val="FAF5F2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44168"/>
            <a:ext cx="566928" cy="56692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307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F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staff headcount &amp; hours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55064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staffing levels with store sales performance. Identify if under-staffed stores are losing sales during peak hours — or if over-staffed stores are eroding margin.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57984"/>
            <a:ext cx="8412480" cy="822960"/>
          </a:xfrm>
          <a:prstGeom prst="rect">
            <a:avLst/>
          </a:prstGeom>
          <a:solidFill>
            <a:srgbClr val="FAF5F2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67712"/>
            <a:ext cx="566928" cy="566928"/>
          </a:xfrm>
          <a:prstGeom prst="ellipse">
            <a:avLst/>
          </a:prstGeom>
          <a:solidFill>
            <a:srgbClr val="C9506A"/>
          </a:solidFill>
          <a:ln w="12700">
            <a:solidFill>
              <a:srgbClr val="C950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67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2311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F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expiry &amp; rotation dates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7860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best-before dates for perishable stock. Link to the inventory aging data we already have to flag items at risk of expiry before sale — reducing shrinkage.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81528"/>
            <a:ext cx="8412480" cy="822960"/>
          </a:xfrm>
          <a:prstGeom prst="rect">
            <a:avLst/>
          </a:prstGeom>
          <a:solidFill>
            <a:srgbClr val="FAF5F2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191256"/>
            <a:ext cx="566928" cy="566928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912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154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F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vs. in-store channel split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50215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JustDrinks expands to online sales, channel attribution is critical. Build the data model now so the comparison is possible from day one of any digital launch.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8412480" cy="822960"/>
          </a:xfrm>
          <a:prstGeom prst="rect">
            <a:avLst/>
          </a:prstGeom>
          <a:solidFill>
            <a:srgbClr val="FAF5F2"/>
          </a:solidFill>
          <a:ln/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114800"/>
            <a:ext cx="566928" cy="566928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14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0782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F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returns &amp; complaints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42569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data surfaces product quality issues early and flags vendors whose products generate disproportionate complaints — a key input to vendor scorecard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F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Priority Matrix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business impact and ease of collection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737360"/>
                <a:gridCol w="173736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Collection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demographics &amp; loyalty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Promotions &amp; discount flags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data (API)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 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headcount &amp;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267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 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expiry 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267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 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vs. in-store 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A6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  Low (future)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returns &amp; complaints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267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A6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  Low (future)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1234440"/>
            <a:ext cx="8412480" cy="384048"/>
          </a:xfrm>
          <a:prstGeom prst="rect">
            <a:avLst/>
          </a:prstGeom>
          <a:solidFill>
            <a:srgbClr val="4A1F31"/>
          </a:solidFill>
          <a:ln w="12700">
            <a:solidFill>
              <a:srgbClr val="4A1F3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2527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Variable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77640" y="12527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60720" y="12527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Collection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0" y="12527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F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6D2E46">
              <a:alpha val="40000"/>
            </a:srgbClr>
          </a:solidFill>
          <a:ln w="12700">
            <a:solidFill>
              <a:srgbClr val="6D2E4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C9506A">
              <a:alpha val="30000"/>
            </a:srgbClr>
          </a:solidFill>
          <a:ln w="12700">
            <a:solidFill>
              <a:srgbClr val="C9506A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Reporting to Predicting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FY2016 data tells a complete story of what happened.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 is building the data foundation to predict what happens next.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731520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26769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3288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2532888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customer loyalty programme to begin capturing demographics from new purchases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264408"/>
            <a:ext cx="731520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26769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28269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3282696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promotion flag field to the POS system — a one-time development task with immediate payoff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014216"/>
            <a:ext cx="731520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26769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3250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4032504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weather API into the analytics pipeline — low cost, high value, implementable in weeks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|  JustDrinks Ltd — Data Analytics Review  |  FY2016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JustDrinks FY2016 — Data Strategy Recommendations</dc:title>
  <dc:subject>PptxGenJS Presentation</dc:subject>
  <dc:creator>Data Analyst — JustDrinks Ltd</dc:creator>
  <cp:lastModifiedBy>Data Analyst — JustDrinks Ltd</cp:lastModifiedBy>
  <cp:revision>1</cp:revision>
  <dcterms:created xsi:type="dcterms:W3CDTF">2026-06-02T01:37:51Z</dcterms:created>
  <dcterms:modified xsi:type="dcterms:W3CDTF">2026-06-02T01:37:51Z</dcterms:modified>
</cp:coreProperties>
</file>